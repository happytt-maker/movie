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基于 MovieLens 32M 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分布式增量电影推荐系统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FC7E8"/>
                </a:solidFill>
                <a:latin typeface="微软雅黑"/>
              </a:rPr>
              <a:t>NDCG@10 = 0.8894　相对热门基线 +20.8%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6B7B"/>
                </a:solidFill>
                <a:latin typeface="微软雅黑"/>
              </a:rPr>
              <a:t>大数据技术课程项目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结论先行：排序目标 + 特征融合把 NDCG@10 提升 20.8%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383280" cy="19202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B2A41"/>
                </a:solidFill>
                <a:latin typeface="微软雅黑"/>
              </a:rPr>
              <a:t>0.7363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A6B7B"/>
                </a:solidFill>
                <a:latin typeface="微软雅黑"/>
              </a:rPr>
              <a:t>热门基线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383280" cy="19202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B2A41"/>
                </a:solidFill>
                <a:latin typeface="微软雅黑"/>
              </a:rPr>
              <a:t>0.8562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A6B7B"/>
                </a:solidFill>
                <a:latin typeface="微软雅黑"/>
              </a:rPr>
              <a:t>BPR 热启动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3383280" cy="192024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0.8894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集成排序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A41"/>
                </a:solidFill>
                <a:latin typeface="微软雅黑"/>
              </a:rPr>
              <a:t>· 同一套 BPR 召回，仅把随机初始化换成旧评分模型的 embedding 热启动，就多出 6.6%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A41"/>
                </a:solidFill>
                <a:latin typeface="微软雅黑"/>
              </a:rPr>
              <a:t>· LightGBM LambdaRank 融合 9 个特征，在 BPR 之上再提升 3.9%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A41"/>
                </a:solidFill>
                <a:latin typeface="微软雅黑"/>
              </a:rPr>
              <a:t>· 全流程一条命令复现：python scripts/run_all.py --config configs/local.yaml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DATA &amp;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数据与实验协议：严格时间划分，杜绝泄漏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5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/>
                <a:gridCol w="890293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设定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数据规模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32,000,204 条评分 / 200,948 用户 / 84,432 电影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正反馈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rating ≥ 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划分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每用户按时间戳 8 : 1 : 1（train 25.5M / valid 3.19M / test 3.29M）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候选集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测试正样本 + 100 个固定负样本（种子 20260907）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负样本池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训练交互 ≥ 5 的条目，排除用户已交互条目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1"/>
                          </a:solidFill>
                          <a:latin typeface="微软雅黑"/>
                        </a:rPr>
                        <a:t>NDCG@10（主）/ Recall@10 / MRR@10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系统架构：五层流水线，模块可单独运行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881360" cy="804672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6F8E"/>
                </a:solidFill>
                <a:latin typeface="微软雅黑"/>
              </a:rPr>
              <a:t>数据层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36776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A41"/>
                </a:solidFill>
                <a:latin typeface="微软雅黑"/>
              </a:rPr>
              <a:t>时间划分 · 候选集生成 · 质量报告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55063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prepare_data.py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10881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6F8E"/>
                </a:solidFill>
                <a:latin typeface="微软雅黑"/>
              </a:rPr>
              <a:t>特征层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96896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A41"/>
                </a:solidFill>
                <a:latin typeface="微软雅黑"/>
              </a:rPr>
              <a:t>条目/用户统计 · 类型亲和度 · 模型分数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15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build_features.py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29000"/>
            <a:ext cx="10881360" cy="804672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3872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6F8E"/>
                </a:solidFill>
                <a:latin typeface="微软雅黑"/>
              </a:rPr>
              <a:t>算法层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57016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A41"/>
                </a:solidFill>
                <a:latin typeface="微软雅黑"/>
              </a:rPr>
              <a:t>热门 · LSH · Spark ALS · 流式 · 图 · BPR · LightGBM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57530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src/*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108813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9884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6F8E"/>
                </a:solidFill>
                <a:latin typeface="微软雅黑"/>
              </a:rPr>
              <a:t>服务层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17136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A41"/>
                </a:solidFill>
                <a:latin typeface="微软雅黑"/>
              </a:rPr>
              <a:t>按用户切片打分 · Top-10 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53542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top10_*.csv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49240"/>
            <a:ext cx="10881360" cy="804672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6F8E"/>
                </a:solidFill>
                <a:latin typeface="微软雅黑"/>
              </a:rPr>
              <a:t>评价层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477255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A41"/>
                </a:solidFill>
                <a:latin typeface="微软雅黑"/>
              </a:rPr>
              <a:t>NDCG / Recall / MRR / 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49554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evaluate.py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SIX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六个任务：每项都有可复现结论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82495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任务一 数据检查 + 热门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NDCG 0.7363；四种热度口径对比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3697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任务二 相似度 + LSH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75887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精确 top-K 30.4s；LSH recall 0.148（负面结论）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91455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任务三 Spark 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12.9M 正反馈，564s，NDCG 0.790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82495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任务四 流式增量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3.29M 事件，78,939 事件/秒，画像 1.73µs/次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3697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任务五 二部图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75887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PageRank≈热门；社区特征 +4.5%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663440"/>
            <a:ext cx="530352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791455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A41"/>
                </a:solidFill>
                <a:latin typeface="微软雅黑"/>
              </a:rPr>
              <a:t>任务六 召回-特征-排序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3036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BPR 0.8562 → 集成 0.8894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结果：从热门基线到集成排序的完整对比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881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4"/>
                <a:gridCol w="2176272"/>
                <a:gridCol w="2176272"/>
                <a:gridCol w="217627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相对热门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热门基线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0.7363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0.7291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Spark ALS（20k 抽样）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0.7896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BPR（随机初始化）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0.8028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0.7840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+9.0%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BPR（旧模型热启动）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0.8562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0.8191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+16.3%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LightGBM 集成排序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0.8894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0.8301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1"/>
                          </a:solidFill>
                          <a:latin typeface="微软雅黑"/>
                        </a:rPr>
                        <a:t>+20.8%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033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E6F8E"/>
                </a:solidFill>
                <a:latin typeface="微软雅黑"/>
              </a:rPr>
              <a:t>关键：训练目标与指标对齐（BPR 成对损失）比增大模型容量更有效。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消融实验：BPR 分数是主力，类型特征稳定加分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2720340"/>
                <a:gridCol w="27203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配置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相对完整模型</a:t>
                      </a:r>
                    </a:p>
                  </a:txBody>
                  <a:tcPr anchor="ctr">
                    <a:solidFill>
                      <a:srgbClr val="2E6F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完整模型（9 特征）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0.8894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去掉 BPR 分数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0.8417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−5.4%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去掉类型亲和度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0.8727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微软雅黑"/>
                        </a:rPr>
                        <a:t>−1.9%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9184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BPR 分数贡献最大：去掉后退回热门+统计特征水平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类型亲和度提供 BPR 无法表达的上下文信息，稳定 +1.9%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时间趋势、贝叶斯均分等特征贡献较弱，可精简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B"/>
                </a:solidFill>
                <a:latin typeface="微软雅黑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B2A41"/>
                </a:solidFill>
                <a:latin typeface="微软雅黑"/>
              </a:rPr>
              <a:t>局限与下一步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0424160" cy="127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212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已知局限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LSH 阈值未调优，recall 仅 0.148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图实验在 20k 用户子图上完成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负样本口径由本项目定义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流式为单机回放，未接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下一步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LSH 按 Jaccard 分布自适应选阈值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Spark GraphX 上做全量社区发现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Structured Streaming 承载实时画像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B2A41"/>
                </a:solidFill>
                <a:latin typeface="微软雅黑"/>
              </a:rPr>
              <a:t>· 序列特征 + 双塔召回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B"/>
                </a:solidFill>
                <a:latin typeface="微软雅黑"/>
              </a:rPr>
              <a:t>代码与结果：python scripts/run_all.py 一键复现，results/ 下保存所有指标与 Top-10 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