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574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微软雅黑"/>
              </a:rPr>
              <a:t>基于 MovieLens 32M 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微软雅黑"/>
              </a:rPr>
              <a:t>分布式增量电影推荐系统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8FC7E8"/>
                </a:solidFill>
                <a:latin typeface="微软雅黑"/>
              </a:rPr>
              <a:t>NDCG@10 = 0.8894　相对热门基线 +20.8%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6B7B"/>
                </a:solidFill>
                <a:latin typeface="微软雅黑"/>
              </a:rPr>
              <a:t>大数据技术课程项目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6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6B7B"/>
                </a:solidFill>
                <a:latin typeface="微软雅黑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B2A41"/>
                </a:solidFill>
                <a:latin typeface="微软雅黑"/>
              </a:rPr>
              <a:t>结论先行：排序目标 + 特征融合把 NDCG@10 提升 20.8%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07008"/>
            <a:ext cx="10424160" cy="127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3383280" cy="192024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96596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B2A41"/>
                </a:solidFill>
                <a:latin typeface="微软雅黑"/>
              </a:rPr>
              <a:t>0.7363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88036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5A6B7B"/>
                </a:solidFill>
                <a:latin typeface="微软雅黑"/>
              </a:rPr>
              <a:t>热门基线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737360"/>
            <a:ext cx="3383280" cy="192024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B2A41"/>
                </a:solidFill>
                <a:latin typeface="微软雅黑"/>
              </a:rPr>
              <a:t>0.8562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8036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5A6B7B"/>
                </a:solidFill>
                <a:latin typeface="微软雅黑"/>
              </a:rPr>
              <a:t>BPR 热启动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737360"/>
            <a:ext cx="3383280" cy="1920240"/>
          </a:xfrm>
          <a:prstGeom prst="rect">
            <a:avLst/>
          </a:prstGeom>
          <a:solidFill>
            <a:srgbClr val="2E6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96596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微软雅黑"/>
              </a:rPr>
              <a:t>0.8894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88036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集成排序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10881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2A41"/>
                </a:solidFill>
                <a:latin typeface="微软雅黑"/>
              </a:rPr>
              <a:t>· 同一套 BPR 召回，仅把随机初始化换成旧评分模型的 embedding 热启动，就多出 6.6%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2A41"/>
                </a:solidFill>
                <a:latin typeface="微软雅黑"/>
              </a:rPr>
              <a:t>· LightGBM LambdaRank 融合 9 个特征，在 BPR 之上再提升 3.9%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2A41"/>
                </a:solidFill>
                <a:latin typeface="微软雅黑"/>
              </a:rPr>
              <a:t>· 全流程一条命令复现：python scripts/run_all.py --config configs/base.yaml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6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6B7B"/>
                </a:solidFill>
                <a:latin typeface="微软雅黑"/>
              </a:rPr>
              <a:t>DATA &amp;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B2A41"/>
                </a:solidFill>
                <a:latin typeface="微软雅黑"/>
              </a:rPr>
              <a:t>数据与实验协议：严格时间划分，杜绝泄漏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07008"/>
            <a:ext cx="10424160" cy="127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8429"/>
                <a:gridCol w="890293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项目</a:t>
                      </a:r>
                    </a:p>
                  </a:txBody>
                  <a:tcPr anchor="ctr">
                    <a:solidFill>
                      <a:srgbClr val="2E6F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设定</a:t>
                      </a:r>
                    </a:p>
                  </a:txBody>
                  <a:tcPr anchor="ctr">
                    <a:solidFill>
                      <a:srgbClr val="2E6F8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A41"/>
                          </a:solidFill>
                          <a:latin typeface="微软雅黑"/>
                        </a:rPr>
                        <a:t>数据规模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2A41"/>
                          </a:solidFill>
                          <a:latin typeface="微软雅黑"/>
                        </a:rPr>
                        <a:t>32,000,204 条评分 / 200,948 用户 / 84,432 电影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A41"/>
                          </a:solidFill>
                          <a:latin typeface="微软雅黑"/>
                        </a:rPr>
                        <a:t>正反馈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2A41"/>
                          </a:solidFill>
                          <a:latin typeface="微软雅黑"/>
                        </a:rPr>
                        <a:t>rating ≥ 4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A41"/>
                          </a:solidFill>
                          <a:latin typeface="微软雅黑"/>
                        </a:rPr>
                        <a:t>划分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2A41"/>
                          </a:solidFill>
                          <a:latin typeface="微软雅黑"/>
                        </a:rPr>
                        <a:t>每用户按时间戳 8 : 1 : 1（train 25.5M / valid 3.19M / test 3.29M）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A41"/>
                          </a:solidFill>
                          <a:latin typeface="微软雅黑"/>
                        </a:rPr>
                        <a:t>候选集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2A41"/>
                          </a:solidFill>
                          <a:latin typeface="微软雅黑"/>
                        </a:rPr>
                        <a:t>测试正样本 + 100 个固定负样本（种子 20260907）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A41"/>
                          </a:solidFill>
                          <a:latin typeface="微软雅黑"/>
                        </a:rPr>
                        <a:t>负样本池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2A41"/>
                          </a:solidFill>
                          <a:latin typeface="微软雅黑"/>
                        </a:rPr>
                        <a:t>训练交互 ≥ 5 的条目，排除用户已交互条目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A41"/>
                          </a:solidFill>
                          <a:latin typeface="微软雅黑"/>
                        </a:rPr>
                        <a:t>指标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2A41"/>
                          </a:solidFill>
                          <a:latin typeface="微软雅黑"/>
                        </a:rPr>
                        <a:t>NDCG@10（主）/ Recall@10 / MRR@10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6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6B7B"/>
                </a:solidFill>
                <a:latin typeface="微软雅黑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B2A41"/>
                </a:solidFill>
                <a:latin typeface="微软雅黑"/>
              </a:rPr>
              <a:t>系统架构：五层流水线，模块可单独运行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07008"/>
            <a:ext cx="10424160" cy="127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10881360" cy="804672"/>
          </a:xfrm>
          <a:prstGeom prst="rect">
            <a:avLst/>
          </a:prstGeom>
          <a:solidFill>
            <a:srgbClr val="F2F5F8"/>
          </a:solidFill>
          <a:ln>
            <a:solidFill>
              <a:srgbClr val="F2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18488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E6F8E"/>
                </a:solidFill>
                <a:latin typeface="微软雅黑"/>
              </a:rPr>
              <a:t>数据层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636776"/>
            <a:ext cx="6766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B2A41"/>
                </a:solidFill>
                <a:latin typeface="微软雅黑"/>
              </a:rPr>
              <a:t>时间划分 · 候选集生成 · 质量报告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655063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A6B7B"/>
                </a:solidFill>
                <a:latin typeface="微软雅黑"/>
              </a:rPr>
              <a:t>prepare_data.py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68880"/>
            <a:ext cx="10881360" cy="804672"/>
          </a:xfrm>
          <a:prstGeom prst="rect">
            <a:avLst/>
          </a:prstGeom>
          <a:solidFill>
            <a:srgbClr val="FFFFFF"/>
          </a:solidFill>
          <a:ln>
            <a:solidFill>
              <a:srgbClr val="F2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78608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E6F8E"/>
                </a:solidFill>
                <a:latin typeface="微软雅黑"/>
              </a:rPr>
              <a:t>特征层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596896"/>
            <a:ext cx="6766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B2A41"/>
                </a:solidFill>
                <a:latin typeface="微软雅黑"/>
              </a:rPr>
              <a:t>条目/用户统计 · 类型亲和度 · 模型分数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615184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A6B7B"/>
                </a:solidFill>
                <a:latin typeface="微软雅黑"/>
              </a:rPr>
              <a:t>build_features.py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429000"/>
            <a:ext cx="10881360" cy="804672"/>
          </a:xfrm>
          <a:prstGeom prst="rect">
            <a:avLst/>
          </a:prstGeom>
          <a:solidFill>
            <a:srgbClr val="F2F5F8"/>
          </a:solidFill>
          <a:ln>
            <a:solidFill>
              <a:srgbClr val="F2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38728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E6F8E"/>
                </a:solidFill>
                <a:latin typeface="微软雅黑"/>
              </a:rPr>
              <a:t>算法层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557016"/>
            <a:ext cx="6766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B2A41"/>
                </a:solidFill>
                <a:latin typeface="微软雅黑"/>
              </a:rPr>
              <a:t>热门 · LSH · Spark ALS · 流式 · 图 · BPR · LightGBM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3575304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A6B7B"/>
                </a:solidFill>
                <a:latin typeface="微软雅黑"/>
              </a:rPr>
              <a:t>src/*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389120"/>
            <a:ext cx="10881360" cy="804672"/>
          </a:xfrm>
          <a:prstGeom prst="rect">
            <a:avLst/>
          </a:prstGeom>
          <a:solidFill>
            <a:srgbClr val="FFFFFF"/>
          </a:solidFill>
          <a:ln>
            <a:solidFill>
              <a:srgbClr val="F2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98848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E6F8E"/>
                </a:solidFill>
                <a:latin typeface="微软雅黑"/>
              </a:rPr>
              <a:t>服务层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517136"/>
            <a:ext cx="6766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B2A41"/>
                </a:solidFill>
                <a:latin typeface="微软雅黑"/>
              </a:rPr>
              <a:t>按用户切片打分 · Top-10 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535424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A6B7B"/>
                </a:solidFill>
                <a:latin typeface="微软雅黑"/>
              </a:rPr>
              <a:t>top10_*.csv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49240"/>
            <a:ext cx="10881360" cy="804672"/>
          </a:xfrm>
          <a:prstGeom prst="rect">
            <a:avLst/>
          </a:prstGeom>
          <a:solidFill>
            <a:srgbClr val="F2F5F8"/>
          </a:solidFill>
          <a:ln>
            <a:solidFill>
              <a:srgbClr val="F2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458968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E6F8E"/>
                </a:solidFill>
                <a:latin typeface="微软雅黑"/>
              </a:rPr>
              <a:t>评价层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477255"/>
            <a:ext cx="6766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B2A41"/>
                </a:solidFill>
                <a:latin typeface="微软雅黑"/>
              </a:rPr>
              <a:t>NDCG / Recall / MRR / 延迟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5495544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A6B7B"/>
                </a:solidFill>
                <a:latin typeface="微软雅黑"/>
              </a:rPr>
              <a:t>evaluate.py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6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6B7B"/>
                </a:solidFill>
                <a:latin typeface="微软雅黑"/>
              </a:rPr>
              <a:t>SIX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B2A41"/>
                </a:solidFill>
                <a:latin typeface="微软雅黑"/>
              </a:rPr>
              <a:t>六个任务：每项都有可复现结论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07008"/>
            <a:ext cx="10424160" cy="127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303520" cy="13258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82495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B2A41"/>
                </a:solidFill>
                <a:latin typeface="微软雅黑"/>
              </a:rPr>
              <a:t>任务一 数据检查 + 热门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B7B"/>
                </a:solidFill>
                <a:latin typeface="微软雅黑"/>
              </a:rPr>
              <a:t>NDCG 0.7363；四种热度口径对比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08960"/>
            <a:ext cx="5303520" cy="13258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36976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B2A41"/>
                </a:solidFill>
                <a:latin typeface="微软雅黑"/>
              </a:rPr>
              <a:t>任务二 相似度 + LSH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75887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B7B"/>
                </a:solidFill>
                <a:latin typeface="微软雅黑"/>
              </a:rPr>
              <a:t>精确 top-K 30.4s；LSH recall 0.148（负面结论）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63440"/>
            <a:ext cx="5303520" cy="13258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791455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B2A41"/>
                </a:solidFill>
                <a:latin typeface="微软雅黑"/>
              </a:rPr>
              <a:t>任务三 Spark 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230368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B7B"/>
                </a:solidFill>
                <a:latin typeface="微软雅黑"/>
              </a:rPr>
              <a:t>12.9M 正反馈，564s，NDCG 0.790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5303520" cy="13258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682495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B2A41"/>
                </a:solidFill>
                <a:latin typeface="微软雅黑"/>
              </a:rPr>
              <a:t>任务四 流式增量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21408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B7B"/>
                </a:solidFill>
                <a:latin typeface="微软雅黑"/>
              </a:rPr>
              <a:t>3.29M 事件，78,939 事件/秒，画像 1.73µs/次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108960"/>
            <a:ext cx="5303520" cy="13258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236976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B2A41"/>
                </a:solidFill>
                <a:latin typeface="微软雅黑"/>
              </a:rPr>
              <a:t>任务五 二部图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75887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B7B"/>
                </a:solidFill>
                <a:latin typeface="微软雅黑"/>
              </a:rPr>
              <a:t>PageRank≈热门；社区特征 +4.5%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663440"/>
            <a:ext cx="5303520" cy="13258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791455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B2A41"/>
                </a:solidFill>
                <a:latin typeface="微软雅黑"/>
              </a:rPr>
              <a:t>任务六 召回-特征-排序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30368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B7B"/>
                </a:solidFill>
                <a:latin typeface="微软雅黑"/>
              </a:rPr>
              <a:t>BPR 0.8562 → 集成 0.8894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6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6B7B"/>
                </a:solidFill>
                <a:latin typeface="微软雅黑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B2A41"/>
                </a:solidFill>
                <a:latin typeface="微软雅黑"/>
              </a:rPr>
              <a:t>结果：从热门基线到集成排序的完整对比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07008"/>
            <a:ext cx="10424160" cy="127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08760"/>
          <a:ext cx="108813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544"/>
                <a:gridCol w="2176272"/>
                <a:gridCol w="2176272"/>
                <a:gridCol w="2176272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模型</a:t>
                      </a:r>
                    </a:p>
                  </a:txBody>
                  <a:tcPr anchor="ctr">
                    <a:solidFill>
                      <a:srgbClr val="2E6F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NDCG@10</a:t>
                      </a:r>
                    </a:p>
                  </a:txBody>
                  <a:tcPr anchor="ctr">
                    <a:solidFill>
                      <a:srgbClr val="2E6F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2E6F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相对热门</a:t>
                      </a:r>
                    </a:p>
                  </a:txBody>
                  <a:tcPr anchor="ctr">
                    <a:solidFill>
                      <a:srgbClr val="2E6F8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热门基线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0.7363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0.7291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Spark ALS（20k 抽样）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0.7896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BPR（随机初始化）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0.8028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0.7840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+9.0%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BPR（旧模型热启动）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0.8562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0.8191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+16.3%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LightGBM 集成排序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0.8894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0.8301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2A41"/>
                          </a:solidFill>
                          <a:latin typeface="微软雅黑"/>
                        </a:rPr>
                        <a:t>+20.8%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70332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E6F8E"/>
                </a:solidFill>
                <a:latin typeface="微软雅黑"/>
              </a:rPr>
              <a:t>关键：训练目标与指标对齐（BPR 成对损失）比增大模型容量更有效。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6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6B7B"/>
                </a:solidFill>
                <a:latin typeface="微软雅黑"/>
              </a:rPr>
              <a:t>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B2A41"/>
                </a:solidFill>
                <a:latin typeface="微软雅黑"/>
              </a:rPr>
              <a:t>消融实验：BPR 分数是主力，类型特征稳定加分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07008"/>
            <a:ext cx="10424160" cy="127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2720340"/>
                <a:gridCol w="27203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</a:rPr>
                        <a:t>配置</a:t>
                      </a:r>
                    </a:p>
                  </a:txBody>
                  <a:tcPr anchor="ctr">
                    <a:solidFill>
                      <a:srgbClr val="2E6F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</a:rPr>
                        <a:t>NDCG@10</a:t>
                      </a:r>
                    </a:p>
                  </a:txBody>
                  <a:tcPr anchor="ctr">
                    <a:solidFill>
                      <a:srgbClr val="2E6F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</a:rPr>
                        <a:t>相对完整模型</a:t>
                      </a:r>
                    </a:p>
                  </a:txBody>
                  <a:tcPr anchor="ctr">
                    <a:solidFill>
                      <a:srgbClr val="2E6F8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B2A41"/>
                          </a:solidFill>
                          <a:latin typeface="微软雅黑"/>
                        </a:rPr>
                        <a:t>完整模型（9 特征）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41"/>
                          </a:solidFill>
                          <a:latin typeface="微软雅黑"/>
                        </a:rPr>
                        <a:t>0.8894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41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B2A41"/>
                          </a:solidFill>
                          <a:latin typeface="微软雅黑"/>
                        </a:rPr>
                        <a:t>去掉 BPR 分数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41"/>
                          </a:solidFill>
                          <a:latin typeface="微软雅黑"/>
                        </a:rPr>
                        <a:t>0.8417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41"/>
                          </a:solidFill>
                          <a:latin typeface="微软雅黑"/>
                        </a:rPr>
                        <a:t>−5.4%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B2A41"/>
                          </a:solidFill>
                          <a:latin typeface="微软雅黑"/>
                        </a:rPr>
                        <a:t>去掉类型亲和度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41"/>
                          </a:solidFill>
                          <a:latin typeface="微软雅黑"/>
                        </a:rPr>
                        <a:t>0.8727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41"/>
                          </a:solidFill>
                          <a:latin typeface="微软雅黑"/>
                        </a:rPr>
                        <a:t>−1.9%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291840"/>
            <a:ext cx="10881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B2A41"/>
                </a:solidFill>
                <a:latin typeface="微软雅黑"/>
              </a:rPr>
              <a:t>· BPR 分数贡献最大：去掉后退回热门+统计特征水平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B2A41"/>
                </a:solidFill>
                <a:latin typeface="微软雅黑"/>
              </a:rPr>
              <a:t>· 类型亲和度提供 BPR 无法表达的上下文信息，稳定 +1.9%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B2A41"/>
                </a:solidFill>
                <a:latin typeface="微软雅黑"/>
              </a:rPr>
              <a:t>· 时间趋势、贝叶斯均分等特征贡献较弱，可精简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6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6B7B"/>
                </a:solidFill>
                <a:latin typeface="微软雅黑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B2A41"/>
                </a:solidFill>
                <a:latin typeface="微软雅黑"/>
              </a:rPr>
              <a:t>局限与下一步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07008"/>
            <a:ext cx="10424160" cy="127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2120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B2A41"/>
                </a:solidFill>
                <a:latin typeface="微软雅黑"/>
              </a:rPr>
              <a:t>已知局限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B2A41"/>
                </a:solidFill>
                <a:latin typeface="微软雅黑"/>
              </a:rPr>
              <a:t>· LSH 阈值未调优，recall 仅 0.148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B2A41"/>
                </a:solidFill>
                <a:latin typeface="微软雅黑"/>
              </a:rPr>
              <a:t>· 图实验在 20k 用户子图上完成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B2A41"/>
                </a:solidFill>
                <a:latin typeface="微软雅黑"/>
              </a:rPr>
              <a:t>· 负样本口径由本项目定义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B2A41"/>
                </a:solidFill>
                <a:latin typeface="微软雅黑"/>
              </a:rPr>
              <a:t>· 流式为单机回放，未接 Kafka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554480"/>
            <a:ext cx="52120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B2A41"/>
                </a:solidFill>
                <a:latin typeface="微软雅黑"/>
              </a:rPr>
              <a:t>下一步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B2A41"/>
                </a:solidFill>
                <a:latin typeface="微软雅黑"/>
              </a:rPr>
              <a:t>· LSH 按 Jaccard 分布自适应选阈值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B2A41"/>
                </a:solidFill>
                <a:latin typeface="微软雅黑"/>
              </a:rPr>
              <a:t>· Spark GraphX 上做全量社区发现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B2A41"/>
                </a:solidFill>
                <a:latin typeface="微软雅黑"/>
              </a:rPr>
              <a:t>· Structured Streaming 承载实时画像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B2A41"/>
                </a:solidFill>
                <a:latin typeface="微软雅黑"/>
              </a:rPr>
              <a:t>· 序列特征 + 双塔召回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B7B"/>
                </a:solidFill>
                <a:latin typeface="微软雅黑"/>
              </a:rPr>
              <a:t>代码与结果：python scripts/run_all.py 一键复现，results/ 下保存所有指标与 Top-10 文件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